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Database File Table Specification</a:t>
            </a:r>
          </a:p>
        </p:txBody>
      </p:sp>
      <p:sp>
        <p:nvSpPr>
          <p:cNvPr id="3" name="TextBox 2"/>
          <p:cNvSpPr txBox="1"/>
          <p:nvPr/>
        </p:nvSpPr>
        <p:spPr>
          <a:xfrm>
            <a:off x="635000" y="1270000"/>
            <a:ext cx="2540000" cy="381000"/>
          </a:xfrm>
          <a:prstGeom prst="rect">
            <a:avLst/>
          </a:prstGeom>
          <a:noFill/>
        </p:spPr>
        <p:txBody>
          <a:bodyPr wrap="none">
            <a:spAutoFit/>
          </a:bodyPr>
          <a:lstStyle/>
          <a:p>
            <a:pPr>
              <a:defRPr b="1" sz="1600"/>
            </a:pPr>
            <a:r>
              <a:t>Admins Table</a:t>
            </a:r>
          </a:p>
        </p:txBody>
      </p:sp>
      <p:sp>
        <p:nvSpPr>
          <p:cNvPr id="4" name="TextBox 3"/>
          <p:cNvSpPr txBox="1"/>
          <p:nvPr/>
        </p:nvSpPr>
        <p:spPr>
          <a:xfrm>
            <a:off x="635000" y="1651000"/>
            <a:ext cx="7620000" cy="254000"/>
          </a:xfrm>
          <a:prstGeom prst="rect">
            <a:avLst/>
          </a:prstGeom>
          <a:noFill/>
        </p:spPr>
        <p:txBody>
          <a:bodyPr wrap="none">
            <a:spAutoFit/>
          </a:bodyPr>
          <a:lstStyle/>
          <a:p>
            <a:pPr>
              <a:defRPr sz="1200" i="1"/>
            </a:pPr>
            <a:r>
              <a:t>Purpose: Stores overarching administrator credentials with full system access.</a:t>
            </a:r>
          </a:p>
        </p:txBody>
      </p:sp>
      <p:graphicFrame>
        <p:nvGraphicFramePr>
          <p:cNvPr id="5" name="Table 4"/>
          <p:cNvGraphicFramePr>
            <a:graphicFrameLocks noGrp="1"/>
          </p:cNvGraphicFramePr>
          <p:nvPr/>
        </p:nvGraphicFramePr>
        <p:xfrm>
          <a:off x="635000" y="2032000"/>
          <a:ext cx="8382000" cy="1270000"/>
        </p:xfrm>
        <a:graphic>
          <a:graphicData uri="http://schemas.openxmlformats.org/drawingml/2006/table">
            <a:tbl>
              <a:tblPr firstRow="1" bandRow="1">
                <a:tableStyleId>{5C22544A-7EE6-4342-B048-85BDC9FD1C3A}</a:tableStyleId>
              </a:tblPr>
              <a:tblGrid>
                <a:gridCol w="1524000"/>
                <a:gridCol w="1778000"/>
                <a:gridCol w="2286000"/>
                <a:gridCol w="2794000"/>
              </a:tblGrid>
              <a:tr h="211666">
                <a:tc>
                  <a:txBody>
                    <a:bodyPr/>
                    <a:lstStyle/>
                    <a:p>
                      <a:pPr algn="ctr"/>
                      <a:r>
                        <a:rPr b="1" sz="1400">
                          <a:solidFill>
                            <a:srgbClr val="000000"/>
                          </a:solidFill>
                        </a:rPr>
                        <a:t>Column Name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6E6E6"/>
                    </a:solidFill>
                  </a:tcPr>
                </a:tc>
                <a:tc>
                  <a:txBody>
                    <a:bodyPr/>
                    <a:lstStyle/>
                    <a:p>
                      <a:pPr algn="ctr"/>
                      <a:r>
                        <a:rPr b="1" sz="1400">
                          <a:solidFill>
                            <a:srgbClr val="000000"/>
                          </a:solidFill>
                        </a:rPr>
                        <a:t>Data Type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6E6E6"/>
                    </a:solidFill>
                  </a:tcPr>
                </a:tc>
                <a:tc>
                  <a:txBody>
                    <a:bodyPr/>
                    <a:lstStyle/>
                    <a:p>
                      <a:pPr algn="ctr"/>
                      <a:r>
                        <a:rPr b="1" sz="1400">
                          <a:solidFill>
                            <a:srgbClr val="000000"/>
                          </a:solidFill>
                        </a:rPr>
                        <a:t>Constraints</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6E6E6"/>
                    </a:solidFill>
                  </a:tcPr>
                </a:tc>
                <a:tc>
                  <a:txBody>
                    <a:bodyPr/>
                    <a:lstStyle/>
                    <a:p>
                      <a:pPr algn="ctr"/>
                      <a:r>
                        <a:rPr b="1" sz="1400">
                          <a:solidFill>
                            <a:srgbClr val="000000"/>
                          </a:solidFill>
                        </a:rPr>
                        <a:t>Description</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6E6E6"/>
                    </a:solidFill>
                  </a:tcPr>
                </a:tc>
              </a:tr>
              <a:tr h="211666">
                <a:tc>
                  <a:txBody>
                    <a:bodyPr/>
                    <a:lstStyle/>
                    <a:p>
                      <a:pPr algn="l"/>
                      <a:r>
                        <a:rPr sz="1200">
                          <a:solidFill>
                            <a:srgbClr val="000000"/>
                          </a:solidFill>
                        </a:rPr>
                        <a:t>id</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INT</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PRIMARY KEY, AUTO_INCREMENT</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Unique identifier for admin records</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r>
              <a:tr h="211666">
                <a:tc>
                  <a:txBody>
                    <a:bodyPr/>
                    <a:lstStyle/>
                    <a:p>
                      <a:pPr algn="l"/>
                      <a:r>
                        <a:rPr sz="1200">
                          <a:solidFill>
                            <a:srgbClr val="000000"/>
                          </a:solidFill>
                        </a:rPr>
                        <a:t>username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VARCHAR(50)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NOT NULL</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Administrator login alias</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r>
              <a:tr h="211666">
                <a:tc>
                  <a:txBody>
                    <a:bodyPr/>
                    <a:lstStyle/>
                    <a:p>
                      <a:pPr algn="l"/>
                      <a:r>
                        <a:rPr sz="1200">
                          <a:solidFill>
                            <a:srgbClr val="000000"/>
                          </a:solidFill>
                        </a:rPr>
                        <a:t>password</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VARCHAR(255)</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NOT NULL</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Encrypted/Secure login password</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r>
              <a:tr h="211666">
                <a:tc>
                  <a:txBody>
                    <a:bodyPr/>
                    <a:lstStyle/>
                    <a:p>
                      <a:pPr algn="l"/>
                      <a:r>
                        <a:rPr sz="1200">
                          <a:solidFill>
                            <a:srgbClr val="000000"/>
                          </a:solidFill>
                        </a:rPr>
                        <a:t>email</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VARCHAR(100)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None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Administrator contact email</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r>
              <a:tr h="211670">
                <a:tc>
                  <a:txBody>
                    <a:bodyPr/>
                    <a:lstStyle/>
                    <a:p>
                      <a:pPr algn="l"/>
                      <a:r>
                        <a:rPr sz="1200">
                          <a:solidFill>
                            <a:srgbClr val="000000"/>
                          </a:solidFill>
                        </a:rPr>
                        <a:t>created_at</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TIMESTAMP</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DEFAULT CURRENT_TIMESTAMP</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Timestamp of record generation</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r>
            </a:tbl>
          </a:graphicData>
        </a:graphic>
      </p:graphicFrame>
      <p:sp>
        <p:nvSpPr>
          <p:cNvPr id="6" name="TextBox 5"/>
          <p:cNvSpPr txBox="1"/>
          <p:nvPr/>
        </p:nvSpPr>
        <p:spPr>
          <a:xfrm>
            <a:off x="635000" y="4064000"/>
            <a:ext cx="2540000" cy="381000"/>
          </a:xfrm>
          <a:prstGeom prst="rect">
            <a:avLst/>
          </a:prstGeom>
          <a:noFill/>
        </p:spPr>
        <p:txBody>
          <a:bodyPr wrap="none">
            <a:spAutoFit/>
          </a:bodyPr>
          <a:lstStyle/>
          <a:p>
            <a:pPr>
              <a:defRPr b="1" sz="1600"/>
            </a:pPr>
            <a:r>
              <a:t>Users Table</a:t>
            </a:r>
          </a:p>
        </p:txBody>
      </p:sp>
      <p:sp>
        <p:nvSpPr>
          <p:cNvPr id="7" name="TextBox 6"/>
          <p:cNvSpPr txBox="1"/>
          <p:nvPr/>
        </p:nvSpPr>
        <p:spPr>
          <a:xfrm>
            <a:off x="635000" y="4445000"/>
            <a:ext cx="7620000" cy="254000"/>
          </a:xfrm>
          <a:prstGeom prst="rect">
            <a:avLst/>
          </a:prstGeom>
          <a:noFill/>
        </p:spPr>
        <p:txBody>
          <a:bodyPr wrap="none">
            <a:spAutoFit/>
          </a:bodyPr>
          <a:lstStyle/>
          <a:p>
            <a:pPr>
              <a:defRPr sz="1200" i="1"/>
            </a:pPr>
            <a:r>
              <a:t>Purpose: Holds the registered details of clients seeking technical assistance.</a:t>
            </a:r>
          </a:p>
        </p:txBody>
      </p:sp>
      <p:graphicFrame>
        <p:nvGraphicFramePr>
          <p:cNvPr id="8" name="Table 7"/>
          <p:cNvGraphicFramePr>
            <a:graphicFrameLocks noGrp="1"/>
          </p:cNvGraphicFramePr>
          <p:nvPr/>
        </p:nvGraphicFramePr>
        <p:xfrm>
          <a:off x="635000" y="4826000"/>
          <a:ext cx="8382000" cy="1524000"/>
        </p:xfrm>
        <a:graphic>
          <a:graphicData uri="http://schemas.openxmlformats.org/drawingml/2006/table">
            <a:tbl>
              <a:tblPr firstRow="1" bandRow="1">
                <a:tableStyleId>{5C22544A-7EE6-4342-B048-85BDC9FD1C3A}</a:tableStyleId>
              </a:tblPr>
              <a:tblGrid>
                <a:gridCol w="1524000"/>
                <a:gridCol w="1778000"/>
                <a:gridCol w="2286000"/>
                <a:gridCol w="2794000"/>
              </a:tblGrid>
              <a:tr h="217714">
                <a:tc>
                  <a:txBody>
                    <a:bodyPr/>
                    <a:lstStyle/>
                    <a:p>
                      <a:pPr algn="ctr"/>
                      <a:r>
                        <a:rPr b="1" sz="1400">
                          <a:solidFill>
                            <a:srgbClr val="000000"/>
                          </a:solidFill>
                        </a:rPr>
                        <a:t>Column Name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6E6E6"/>
                    </a:solidFill>
                  </a:tcPr>
                </a:tc>
                <a:tc>
                  <a:txBody>
                    <a:bodyPr/>
                    <a:lstStyle/>
                    <a:p>
                      <a:pPr algn="ctr"/>
                      <a:r>
                        <a:rPr b="1" sz="1400">
                          <a:solidFill>
                            <a:srgbClr val="000000"/>
                          </a:solidFill>
                        </a:rPr>
                        <a:t>Data Type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6E6E6"/>
                    </a:solidFill>
                  </a:tcPr>
                </a:tc>
                <a:tc>
                  <a:txBody>
                    <a:bodyPr/>
                    <a:lstStyle/>
                    <a:p>
                      <a:pPr algn="ctr"/>
                      <a:r>
                        <a:rPr b="1" sz="1400">
                          <a:solidFill>
                            <a:srgbClr val="000000"/>
                          </a:solidFill>
                        </a:rPr>
                        <a:t>Constraints</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6E6E6"/>
                    </a:solidFill>
                  </a:tcPr>
                </a:tc>
                <a:tc>
                  <a:txBody>
                    <a:bodyPr/>
                    <a:lstStyle/>
                    <a:p>
                      <a:pPr algn="ctr"/>
                      <a:r>
                        <a:rPr b="1" sz="1400">
                          <a:solidFill>
                            <a:srgbClr val="000000"/>
                          </a:solidFill>
                        </a:rPr>
                        <a:t>Description</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6E6E6"/>
                    </a:solidFill>
                  </a:tcPr>
                </a:tc>
              </a:tr>
              <a:tr h="217714">
                <a:tc>
                  <a:txBody>
                    <a:bodyPr/>
                    <a:lstStyle/>
                    <a:p>
                      <a:pPr algn="l"/>
                      <a:r>
                        <a:rPr sz="1200">
                          <a:solidFill>
                            <a:srgbClr val="000000"/>
                          </a:solidFill>
                        </a:rPr>
                        <a:t>id</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INT</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PRIMARY KEY, AUTO_INCREMENT</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Client unique identifier</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r>
              <a:tr h="217714">
                <a:tc>
                  <a:txBody>
                    <a:bodyPr/>
                    <a:lstStyle/>
                    <a:p>
                      <a:pPr algn="l"/>
                      <a:r>
                        <a:rPr sz="1200">
                          <a:solidFill>
                            <a:srgbClr val="000000"/>
                          </a:solidFill>
                        </a:rPr>
                        <a:t>username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VARCHAR(50)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NOT NULL</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Client display/login name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r>
              <a:tr h="217714">
                <a:tc>
                  <a:txBody>
                    <a:bodyPr/>
                    <a:lstStyle/>
                    <a:p>
                      <a:pPr algn="l"/>
                      <a:r>
                        <a:rPr sz="1200">
                          <a:solidFill>
                            <a:srgbClr val="000000"/>
                          </a:solidFill>
                        </a:rPr>
                        <a:t>password</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VARCHAR(255)</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NOT NULL</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Client secure password</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r>
              <a:tr h="217714">
                <a:tc>
                  <a:txBody>
                    <a:bodyPr/>
                    <a:lstStyle/>
                    <a:p>
                      <a:pPr algn="l"/>
                      <a:r>
                        <a:rPr sz="1200">
                          <a:solidFill>
                            <a:srgbClr val="000000"/>
                          </a:solidFill>
                        </a:rPr>
                        <a:t>email</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VARCHAR(100)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None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Client registered email address</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r>
              <a:tr h="217714">
                <a:tc>
                  <a:txBody>
                    <a:bodyPr/>
                    <a:lstStyle/>
                    <a:p>
                      <a:pPr algn="l"/>
                      <a:r>
                        <a:rPr sz="1200">
                          <a:solidFill>
                            <a:srgbClr val="000000"/>
                          </a:solidFill>
                        </a:rPr>
                        <a:t>contact</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VARCHAR(20)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None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Client mobile phone number</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r>
              <a:tr h="217716">
                <a:tc>
                  <a:txBody>
                    <a:bodyPr/>
                    <a:lstStyle/>
                    <a:p>
                      <a:pPr algn="l"/>
                      <a:r>
                        <a:rPr sz="1200">
                          <a:solidFill>
                            <a:srgbClr val="000000"/>
                          </a:solidFill>
                        </a:rPr>
                        <a:t>model/company</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VARCHAR(100)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None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Device model and brand details</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r>
            </a:tbl>
          </a:graphicData>
        </a:graphic>
      </p:graphicFrame>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Database File Table Specification (Cont.)</a:t>
            </a:r>
          </a:p>
        </p:txBody>
      </p:sp>
      <p:sp>
        <p:nvSpPr>
          <p:cNvPr id="3" name="TextBox 2"/>
          <p:cNvSpPr txBox="1"/>
          <p:nvPr/>
        </p:nvSpPr>
        <p:spPr>
          <a:xfrm>
            <a:off x="635000" y="1016000"/>
            <a:ext cx="2540000" cy="381000"/>
          </a:xfrm>
          <a:prstGeom prst="rect">
            <a:avLst/>
          </a:prstGeom>
          <a:noFill/>
        </p:spPr>
        <p:txBody>
          <a:bodyPr wrap="none">
            <a:spAutoFit/>
          </a:bodyPr>
          <a:lstStyle/>
          <a:p>
            <a:pPr>
              <a:defRPr b="1" sz="1600"/>
            </a:pPr>
            <a:r>
              <a:t>Providers Table</a:t>
            </a:r>
          </a:p>
        </p:txBody>
      </p:sp>
      <p:sp>
        <p:nvSpPr>
          <p:cNvPr id="4" name="TextBox 3"/>
          <p:cNvSpPr txBox="1"/>
          <p:nvPr/>
        </p:nvSpPr>
        <p:spPr>
          <a:xfrm>
            <a:off x="635000" y="1397000"/>
            <a:ext cx="7620000" cy="254000"/>
          </a:xfrm>
          <a:prstGeom prst="rect">
            <a:avLst/>
          </a:prstGeom>
          <a:noFill/>
        </p:spPr>
        <p:txBody>
          <a:bodyPr wrap="none">
            <a:spAutoFit/>
          </a:bodyPr>
          <a:lstStyle/>
          <a:p>
            <a:pPr>
              <a:defRPr sz="1200" i="1"/>
            </a:pPr>
            <a:r>
              <a:t>Purpose: Registers service technicians along with their business identifiers and skills.</a:t>
            </a:r>
          </a:p>
        </p:txBody>
      </p:sp>
      <p:graphicFrame>
        <p:nvGraphicFramePr>
          <p:cNvPr id="5" name="Table 4"/>
          <p:cNvGraphicFramePr>
            <a:graphicFrameLocks noGrp="1"/>
          </p:cNvGraphicFramePr>
          <p:nvPr/>
        </p:nvGraphicFramePr>
        <p:xfrm>
          <a:off x="635000" y="1778000"/>
          <a:ext cx="8382000" cy="1524000"/>
        </p:xfrm>
        <a:graphic>
          <a:graphicData uri="http://schemas.openxmlformats.org/drawingml/2006/table">
            <a:tbl>
              <a:tblPr firstRow="1" bandRow="1">
                <a:tableStyleId>{5C22544A-7EE6-4342-B048-85BDC9FD1C3A}</a:tableStyleId>
              </a:tblPr>
              <a:tblGrid>
                <a:gridCol w="1524000"/>
                <a:gridCol w="1778000"/>
                <a:gridCol w="2286000"/>
                <a:gridCol w="2794000"/>
              </a:tblGrid>
              <a:tr h="217714">
                <a:tc>
                  <a:txBody>
                    <a:bodyPr/>
                    <a:lstStyle/>
                    <a:p>
                      <a:pPr algn="ctr"/>
                      <a:r>
                        <a:rPr b="1" sz="1400">
                          <a:solidFill>
                            <a:srgbClr val="000000"/>
                          </a:solidFill>
                        </a:rPr>
                        <a:t>Column Name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6E6E6"/>
                    </a:solidFill>
                  </a:tcPr>
                </a:tc>
                <a:tc>
                  <a:txBody>
                    <a:bodyPr/>
                    <a:lstStyle/>
                    <a:p>
                      <a:pPr algn="ctr"/>
                      <a:r>
                        <a:rPr b="1" sz="1400">
                          <a:solidFill>
                            <a:srgbClr val="000000"/>
                          </a:solidFill>
                        </a:rPr>
                        <a:t>Data Type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6E6E6"/>
                    </a:solidFill>
                  </a:tcPr>
                </a:tc>
                <a:tc>
                  <a:txBody>
                    <a:bodyPr/>
                    <a:lstStyle/>
                    <a:p>
                      <a:pPr algn="ctr"/>
                      <a:r>
                        <a:rPr b="1" sz="1400">
                          <a:solidFill>
                            <a:srgbClr val="000000"/>
                          </a:solidFill>
                        </a:rPr>
                        <a:t>Constraints</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6E6E6"/>
                    </a:solidFill>
                  </a:tcPr>
                </a:tc>
                <a:tc>
                  <a:txBody>
                    <a:bodyPr/>
                    <a:lstStyle/>
                    <a:p>
                      <a:pPr algn="ctr"/>
                      <a:r>
                        <a:rPr b="1" sz="1400">
                          <a:solidFill>
                            <a:srgbClr val="000000"/>
                          </a:solidFill>
                        </a:rPr>
                        <a:t>Description</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6E6E6"/>
                    </a:solidFill>
                  </a:tcPr>
                </a:tc>
              </a:tr>
              <a:tr h="217714">
                <a:tc>
                  <a:txBody>
                    <a:bodyPr/>
                    <a:lstStyle/>
                    <a:p>
                      <a:pPr algn="l"/>
                      <a:r>
                        <a:rPr sz="1200">
                          <a:solidFill>
                            <a:srgbClr val="000000"/>
                          </a:solidFill>
                        </a:rPr>
                        <a:t>id</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INT</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PRIMARY KEY, AUTO_INCREMENT</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Technician unique ID</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r>
              <a:tr h="217714">
                <a:tc>
                  <a:txBody>
                    <a:bodyPr/>
                    <a:lstStyle/>
                    <a:p>
                      <a:pPr algn="l"/>
                      <a:r>
                        <a:rPr sz="1200">
                          <a:solidFill>
                            <a:srgbClr val="000000"/>
                          </a:solidFill>
                        </a:rPr>
                        <a:t>username/password</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VARCHAR</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NOT NULL</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Technician login credentials</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r>
              <a:tr h="217714">
                <a:tc>
                  <a:txBody>
                    <a:bodyPr/>
                    <a:lstStyle/>
                    <a:p>
                      <a:pPr algn="l"/>
                      <a:r>
                        <a:rPr sz="1200">
                          <a:solidFill>
                            <a:srgbClr val="000000"/>
                          </a:solidFill>
                        </a:rPr>
                        <a:t>email/contact</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VARCHAR</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None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Technician contact pathways</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r>
              <a:tr h="217714">
                <a:tc>
                  <a:txBody>
                    <a:bodyPr/>
                    <a:lstStyle/>
                    <a:p>
                      <a:pPr algn="l"/>
                      <a:r>
                        <a:rPr sz="1200">
                          <a:solidFill>
                            <a:srgbClr val="000000"/>
                          </a:solidFill>
                        </a:rPr>
                        <a:t>shop_reg_num</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VARCHAR(100)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None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Verified business registration number</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r>
              <a:tr h="217714">
                <a:tc>
                  <a:txBody>
                    <a:bodyPr/>
                    <a:lstStyle/>
                    <a:p>
                      <a:pPr algn="l"/>
                      <a:r>
                        <a:rPr sz="1200">
                          <a:solidFill>
                            <a:srgbClr val="000000"/>
                          </a:solidFill>
                        </a:rPr>
                        <a:t>service_type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VARCHAR(50)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None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Core category (e.g., Hardware, Software)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r>
              <a:tr h="217716">
                <a:tc>
                  <a:txBody>
                    <a:bodyPr/>
                    <a:lstStyle/>
                    <a:p>
                      <a:pPr algn="l"/>
                      <a:r>
                        <a:rPr sz="1200">
                          <a:solidFill>
                            <a:srgbClr val="000000"/>
                          </a:solidFill>
                        </a:rPr>
                        <a:t>short_info</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TEXT</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None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Brief professional bio or skill summary</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r>
            </a:tbl>
          </a:graphicData>
        </a:graphic>
      </p:graphicFrame>
      <p:sp>
        <p:nvSpPr>
          <p:cNvPr id="6" name="TextBox 5"/>
          <p:cNvSpPr txBox="1"/>
          <p:nvPr/>
        </p:nvSpPr>
        <p:spPr>
          <a:xfrm>
            <a:off x="635000" y="4064000"/>
            <a:ext cx="2540000" cy="381000"/>
          </a:xfrm>
          <a:prstGeom prst="rect">
            <a:avLst/>
          </a:prstGeom>
          <a:noFill/>
        </p:spPr>
        <p:txBody>
          <a:bodyPr wrap="none">
            <a:spAutoFit/>
          </a:bodyPr>
          <a:lstStyle/>
          <a:p>
            <a:pPr>
              <a:defRPr b="1" sz="1600"/>
            </a:pPr>
            <a:r>
              <a:t>Requests Table</a:t>
            </a:r>
          </a:p>
        </p:txBody>
      </p:sp>
      <p:sp>
        <p:nvSpPr>
          <p:cNvPr id="7" name="TextBox 6"/>
          <p:cNvSpPr txBox="1"/>
          <p:nvPr/>
        </p:nvSpPr>
        <p:spPr>
          <a:xfrm>
            <a:off x="635000" y="4445000"/>
            <a:ext cx="7620000" cy="254000"/>
          </a:xfrm>
          <a:prstGeom prst="rect">
            <a:avLst/>
          </a:prstGeom>
          <a:noFill/>
        </p:spPr>
        <p:txBody>
          <a:bodyPr wrap="none">
            <a:spAutoFit/>
          </a:bodyPr>
          <a:lstStyle/>
          <a:p>
            <a:pPr>
              <a:defRPr sz="1200" i="1"/>
            </a:pPr>
            <a:r>
              <a:t>Purpose: Manages workflow tickets linking Users to Providers.</a:t>
            </a:r>
          </a:p>
        </p:txBody>
      </p:sp>
      <p:graphicFrame>
        <p:nvGraphicFramePr>
          <p:cNvPr id="8" name="Table 7"/>
          <p:cNvGraphicFramePr>
            <a:graphicFrameLocks noGrp="1"/>
          </p:cNvGraphicFramePr>
          <p:nvPr/>
        </p:nvGraphicFramePr>
        <p:xfrm>
          <a:off x="635000" y="4826000"/>
          <a:ext cx="8382000" cy="1270000"/>
        </p:xfrm>
        <a:graphic>
          <a:graphicData uri="http://schemas.openxmlformats.org/drawingml/2006/table">
            <a:tbl>
              <a:tblPr firstRow="1" bandRow="1">
                <a:tableStyleId>{5C22544A-7EE6-4342-B048-85BDC9FD1C3A}</a:tableStyleId>
              </a:tblPr>
              <a:tblGrid>
                <a:gridCol w="1524000"/>
                <a:gridCol w="1778000"/>
                <a:gridCol w="2286000"/>
                <a:gridCol w="2794000"/>
              </a:tblGrid>
              <a:tr h="211666">
                <a:tc>
                  <a:txBody>
                    <a:bodyPr/>
                    <a:lstStyle/>
                    <a:p>
                      <a:pPr algn="ctr"/>
                      <a:r>
                        <a:rPr b="1" sz="1400">
                          <a:solidFill>
                            <a:srgbClr val="000000"/>
                          </a:solidFill>
                        </a:rPr>
                        <a:t>Column Name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6E6E6"/>
                    </a:solidFill>
                  </a:tcPr>
                </a:tc>
                <a:tc>
                  <a:txBody>
                    <a:bodyPr/>
                    <a:lstStyle/>
                    <a:p>
                      <a:pPr algn="ctr"/>
                      <a:r>
                        <a:rPr b="1" sz="1400">
                          <a:solidFill>
                            <a:srgbClr val="000000"/>
                          </a:solidFill>
                        </a:rPr>
                        <a:t>Data Type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6E6E6"/>
                    </a:solidFill>
                  </a:tcPr>
                </a:tc>
                <a:tc>
                  <a:txBody>
                    <a:bodyPr/>
                    <a:lstStyle/>
                    <a:p>
                      <a:pPr algn="ctr"/>
                      <a:r>
                        <a:rPr b="1" sz="1400">
                          <a:solidFill>
                            <a:srgbClr val="000000"/>
                          </a:solidFill>
                        </a:rPr>
                        <a:t>Constraints</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6E6E6"/>
                    </a:solidFill>
                  </a:tcPr>
                </a:tc>
                <a:tc>
                  <a:txBody>
                    <a:bodyPr/>
                    <a:lstStyle/>
                    <a:p>
                      <a:pPr algn="ctr"/>
                      <a:r>
                        <a:rPr b="1" sz="1400">
                          <a:solidFill>
                            <a:srgbClr val="000000"/>
                          </a:solidFill>
                        </a:rPr>
                        <a:t>Description</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6E6E6"/>
                    </a:solidFill>
                  </a:tcPr>
                </a:tc>
              </a:tr>
              <a:tr h="211666">
                <a:tc>
                  <a:txBody>
                    <a:bodyPr/>
                    <a:lstStyle/>
                    <a:p>
                      <a:pPr algn="l"/>
                      <a:r>
                        <a:rPr sz="1200">
                          <a:solidFill>
                            <a:srgbClr val="000000"/>
                          </a:solidFill>
                        </a:rPr>
                        <a:t>id</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INT</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PRIMARY KEY, AUTO_INCREMENT</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Unique service ticket ID</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r>
              <a:tr h="211666">
                <a:tc>
                  <a:txBody>
                    <a:bodyPr/>
                    <a:lstStyle/>
                    <a:p>
                      <a:pPr algn="l"/>
                      <a:r>
                        <a:rPr sz="1200">
                          <a:solidFill>
                            <a:srgbClr val="000000"/>
                          </a:solidFill>
                        </a:rPr>
                        <a:t>user_id</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INT</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FOREIGN KEY (users)</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Referential link to the requesting client</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r>
              <a:tr h="211666">
                <a:tc>
                  <a:txBody>
                    <a:bodyPr/>
                    <a:lstStyle/>
                    <a:p>
                      <a:pPr algn="l"/>
                      <a:r>
                        <a:rPr sz="1200">
                          <a:solidFill>
                            <a:srgbClr val="000000"/>
                          </a:solidFill>
                        </a:rPr>
                        <a:t>provider_id</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INT</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FOREIGN KEY (providers)</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Referential link to assigned technician</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r>
              <a:tr h="211666">
                <a:tc>
                  <a:txBody>
                    <a:bodyPr/>
                    <a:lstStyle/>
                    <a:p>
                      <a:pPr algn="l"/>
                      <a:r>
                        <a:rPr sz="1200">
                          <a:solidFill>
                            <a:srgbClr val="000000"/>
                          </a:solidFill>
                        </a:rPr>
                        <a:t>details</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TEXT</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None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Specific breakdown of the issue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r>
              <a:tr h="211670">
                <a:tc>
                  <a:txBody>
                    <a:bodyPr/>
                    <a:lstStyle/>
                    <a:p>
                      <a:pPr algn="l"/>
                      <a:r>
                        <a:rPr sz="1200">
                          <a:solidFill>
                            <a:srgbClr val="000000"/>
                          </a:solidFill>
                        </a:rPr>
                        <a:t>status</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ENUM</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DEFAULT 'Pending'</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c>
                  <a:txBody>
                    <a:bodyPr/>
                    <a:lstStyle/>
                    <a:p>
                      <a:pPr algn="l"/>
                      <a:r>
                        <a:rPr sz="1200">
                          <a:solidFill>
                            <a:srgbClr val="000000"/>
                          </a:solidFill>
                        </a:rPr>
                        <a:t>Progress state (Pending, Completed, etc.)</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Specification</a:t>
            </a:r>
          </a:p>
        </p:txBody>
      </p:sp>
      <p:sp>
        <p:nvSpPr>
          <p:cNvPr id="3" name="Content Placeholder 2"/>
          <p:cNvSpPr>
            <a:spLocks noGrp="1"/>
          </p:cNvSpPr>
          <p:nvPr>
            <p:ph idx="1"/>
          </p:nvPr>
        </p:nvSpPr>
        <p:spPr/>
        <p:txBody>
          <a:bodyPr/>
          <a:lstStyle/>
          <a:p/>
          <a:p>
            <a:pPr>
              <a:spcBef>
                <a:spcPts val="500"/>
              </a:spcBef>
              <a:defRPr sz="1800" b="1"/>
            </a:pPr>
            <a:r>
              <a:t>1. User Interface (Client Portal)</a:t>
            </a:r>
          </a:p>
          <a:p>
            <a:pPr>
              <a:defRPr sz="1600" i="1">
                <a:solidFill>
                  <a:srgbClr val="646464"/>
                </a:solidFill>
              </a:defRPr>
            </a:pPr>
            <a:r>
              <a:t>[Service Request Module]</a:t>
            </a:r>
          </a:p>
          <a:p>
            <a:pPr>
              <a:spcAft>
                <a:spcPts val="1000"/>
              </a:spcAft>
              <a:defRPr sz="1400"/>
            </a:pPr>
            <a:r>
              <a:t>Acting as the primary entry point for individuals seeking technical solutions, this module allows registered users to outline their specific issues. They can input device demographics like model and company, review available technicians, initiate a direct service request, and actively monitor the live 'status' of their pending queries.</a:t>
            </a:r>
          </a:p>
          <a:p>
            <a:pPr>
              <a:spcBef>
                <a:spcPts val="500"/>
              </a:spcBef>
              <a:defRPr sz="1800" b="1"/>
            </a:pPr>
            <a:r>
              <a:t>2. Provider Dashboard</a:t>
            </a:r>
          </a:p>
          <a:p>
            <a:pPr>
              <a:defRPr sz="1600" i="1">
                <a:solidFill>
                  <a:srgbClr val="646464"/>
                </a:solidFill>
              </a:defRPr>
            </a:pPr>
            <a:r>
              <a:t>[Technician Workflow Module]</a:t>
            </a:r>
          </a:p>
          <a:p>
            <a:pPr>
              <a:spcAft>
                <a:spcPts val="1000"/>
              </a:spcAft>
              <a:defRPr sz="1400"/>
            </a:pPr>
            <a:r>
              <a:t>Serves as the dedicated workspace for registered technicians (Providers). It allows them to showcase their professional competencies, service types, and external portfolios. Critically, it acts as an incoming queue where they can selectively review, accept, or reject incoming hardware/software service tickets dispatched by users.</a:t>
            </a:r>
          </a:p>
          <a:p>
            <a:pPr>
              <a:spcBef>
                <a:spcPts val="500"/>
              </a:spcBef>
              <a:defRPr sz="1800" b="1"/>
            </a:pPr>
            <a:r>
              <a:t>3. Administrative Control Panel</a:t>
            </a:r>
          </a:p>
          <a:p>
            <a:pPr>
              <a:defRPr sz="1600" i="1">
                <a:solidFill>
                  <a:srgbClr val="646464"/>
                </a:solidFill>
              </a:defRPr>
            </a:pPr>
            <a:r>
              <a:t>[System Oversight Module]</a:t>
            </a:r>
          </a:p>
          <a:p>
            <a:pPr>
              <a:spcAft>
                <a:spcPts val="1000"/>
              </a:spcAft>
              <a:defRPr sz="1400"/>
            </a:pPr>
            <a:r>
              <a:t>Designed for overarching platform governors, this segment permits absolute visibility across all transactions. Administrators have the authoritative capacity to manage foundational data layers, oversee user-to-provider interactions, review system-wide contact queries, and enforce cascading database referential integrity checks.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Entity-Relationship (ER) Diagram</a:t>
            </a:r>
          </a:p>
        </p:txBody>
      </p:sp>
      <p:pic>
        <p:nvPicPr>
          <p:cNvPr id="3" name="Picture 2" descr="ts_er_diagram_1772128673377.png"/>
          <p:cNvPicPr>
            <a:picLocks noChangeAspect="1"/>
          </p:cNvPicPr>
          <p:nvPr/>
        </p:nvPicPr>
        <p:blipFill>
          <a:blip r:embed="rId2"/>
          <a:stretch>
            <a:fillRect/>
          </a:stretch>
        </p:blipFill>
        <p:spPr>
          <a:xfrm>
            <a:off x="635000" y="1524000"/>
            <a:ext cx="5080000" cy="5080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